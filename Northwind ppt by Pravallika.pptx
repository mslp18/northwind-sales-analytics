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2" r:id="rId1"/>
  </p:sldMasterIdLst>
  <p:notesMasterIdLst>
    <p:notesMasterId r:id="rId19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62" r:id="rId12"/>
    <p:sldId id="263" r:id="rId13"/>
    <p:sldId id="264" r:id="rId14"/>
    <p:sldId id="265" r:id="rId15"/>
    <p:sldId id="266" r:id="rId16"/>
    <p:sldId id="279" r:id="rId17"/>
    <p:sldId id="267" r:id="rId1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04ECAB-861F-BC52-C0CB-24E12AF11595}" v="633" dt="2026-05-10T09:12:32.876"/>
    <p1510:client id="{E1589777-9BA7-E969-7048-4B0C946C0A9F}" v="199" dt="2026-05-10T07:35:47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3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96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78EA-1BDB-4CFD-BD00-8F9E89CA404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B786-4B22-4F16-B91D-6B0260BE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39831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78EA-1BDB-4CFD-BD00-8F9E89CA404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B786-4B22-4F16-B91D-6B0260BE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743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78EA-1BDB-4CFD-BD00-8F9E89CA404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B786-4B22-4F16-B91D-6B0260BE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085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78EA-1BDB-4CFD-BD00-8F9E89CA404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B786-4B22-4F16-B91D-6B0260BE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32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78EA-1BDB-4CFD-BD00-8F9E89CA404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B786-4B22-4F16-B91D-6B0260BE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302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78EA-1BDB-4CFD-BD00-8F9E89CA404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B786-4B22-4F16-B91D-6B0260BE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1668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78EA-1BDB-4CFD-BD00-8F9E89CA404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B786-4B22-4F16-B91D-6B0260BE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8754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78EA-1BDB-4CFD-BD00-8F9E89CA404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B786-4B22-4F16-B91D-6B0260BE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849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78EA-1BDB-4CFD-BD00-8F9E89CA404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B786-4B22-4F16-B91D-6B0260BE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612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78EA-1BDB-4CFD-BD00-8F9E89CA404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B786-4B22-4F16-B91D-6B0260BE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6630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78EA-1BDB-4CFD-BD00-8F9E89CA404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B786-4B22-4F16-B91D-6B0260BE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82071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281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578EA-1BDB-4CFD-BD00-8F9E89CA404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0B786-4B22-4F16-B91D-6B0260BED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26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E33D0F-F925-86E0-5691-DC96EBC717A5}"/>
              </a:ext>
            </a:extLst>
          </p:cNvPr>
          <p:cNvSpPr txBox="1"/>
          <p:nvPr/>
        </p:nvSpPr>
        <p:spPr>
          <a:xfrm>
            <a:off x="141420" y="1326433"/>
            <a:ext cx="1122918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</a:t>
            </a:r>
            <a:r>
              <a:rPr kumimoji="0" lang="en-US" sz="4400" b="1" i="0" u="none" strike="noStrike" kern="0" cap="none" spc="4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>
                <a:latin typeface="Arial Black" panose="020B0A04020102020204" pitchFamily="34" charset="0"/>
              </a:rPr>
              <a:t>NORTHWIND TRADERS SALES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D15A17-54DF-8675-5086-6D5897DE9691}"/>
              </a:ext>
            </a:extLst>
          </p:cNvPr>
          <p:cNvSpPr txBox="1"/>
          <p:nvPr/>
        </p:nvSpPr>
        <p:spPr>
          <a:xfrm rot="10800000" flipV="1">
            <a:off x="4677992" y="2169865"/>
            <a:ext cx="416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Excel. Power BI · SQL · EDA·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98FF1C-078A-137C-DFA5-298096AC3406}"/>
              </a:ext>
            </a:extLst>
          </p:cNvPr>
          <p:cNvSpPr txBox="1"/>
          <p:nvPr/>
        </p:nvSpPr>
        <p:spPr>
          <a:xfrm>
            <a:off x="6217367" y="2967789"/>
            <a:ext cx="415729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BY:</a:t>
            </a:r>
          </a:p>
          <a:p>
            <a:r>
              <a:rPr lang="en-US" dirty="0"/>
              <a:t>   </a:t>
            </a:r>
            <a:r>
              <a:rPr lang="en-US">
                <a:highlight>
                  <a:srgbClr val="FFFF00"/>
                </a:highlight>
              </a:rPr>
              <a:t>Pravallika Manepalli</a:t>
            </a:r>
            <a:endParaRPr lang="en-US" sz="2400">
              <a:highlight>
                <a:srgbClr val="FFFF00"/>
              </a:highlight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4642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8692B7-B400-5725-7480-D7337AF07B33}"/>
              </a:ext>
            </a:extLst>
          </p:cNvPr>
          <p:cNvSpPr txBox="1"/>
          <p:nvPr/>
        </p:nvSpPr>
        <p:spPr>
          <a:xfrm>
            <a:off x="1407887" y="1001485"/>
            <a:ext cx="629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Black" panose="020B0A04020102020204" pitchFamily="34" charset="0"/>
              </a:rPr>
              <a:t>Table of Contents: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FC0909-9769-3DB8-E5D0-E51358FA7E38}"/>
              </a:ext>
            </a:extLst>
          </p:cNvPr>
          <p:cNvSpPr txBox="1"/>
          <p:nvPr/>
        </p:nvSpPr>
        <p:spPr>
          <a:xfrm>
            <a:off x="1016000" y="1886857"/>
            <a:ext cx="757645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Project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Dataset &amp;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Dashboard Pages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KPIs &amp;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Business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Future Improvements</a:t>
            </a:r>
          </a:p>
        </p:txBody>
      </p:sp>
    </p:spTree>
    <p:extLst>
      <p:ext uri="{BB962C8B-B14F-4D97-AF65-F5344CB8AC3E}">
        <p14:creationId xmlns:p14="http://schemas.microsoft.com/office/powerpoint/2010/main" val="632867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C3C95D-80C0-9EB3-7F03-C2096C815CD2}"/>
              </a:ext>
            </a:extLst>
          </p:cNvPr>
          <p:cNvSpPr txBox="1"/>
          <p:nvPr/>
        </p:nvSpPr>
        <p:spPr>
          <a:xfrm>
            <a:off x="1728592" y="1265129"/>
            <a:ext cx="4367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Project Overview: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102520-906F-98DE-3B58-448270ED2382}"/>
              </a:ext>
            </a:extLst>
          </p:cNvPr>
          <p:cNvSpPr txBox="1"/>
          <p:nvPr/>
        </p:nvSpPr>
        <p:spPr>
          <a:xfrm>
            <a:off x="601249" y="1916482"/>
            <a:ext cx="1075985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Collected Northwind Traders sales data from Excel and database tables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Imported datasets into SQL and Power BI environment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Performed SQL queries for data extraction, filtering, joins, aggregation, and analysis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Cleaned and transformed raw data using Power Query Editor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Removed duplicate and null values and standardized data types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Built a Star Schema data model with fact and dimension tables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Created relationships between orders, customers, employees, products, and suppliers tables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Developed DAX measures and calculated KPIs for business analysis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Designed interactive dashboards for Sales, Customer, Employee, and Inventory analysis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Used charts, slicers, maps, KPI cards, tree maps, and waterfall visuals for insights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Generated business insights to improve sales tracking, employee performance, and inventory monitoring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Created a professional business intelligence reporting solution for decision-making support</a:t>
            </a:r>
          </a:p>
        </p:txBody>
      </p:sp>
    </p:spTree>
    <p:extLst>
      <p:ext uri="{BB962C8B-B14F-4D97-AF65-F5344CB8AC3E}">
        <p14:creationId xmlns:p14="http://schemas.microsoft.com/office/powerpoint/2010/main" val="433114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9261EC-36F0-1A69-D4A0-BA6C2FFFE226}"/>
              </a:ext>
            </a:extLst>
          </p:cNvPr>
          <p:cNvSpPr txBox="1"/>
          <p:nvPr/>
        </p:nvSpPr>
        <p:spPr>
          <a:xfrm>
            <a:off x="1377863" y="1127342"/>
            <a:ext cx="63131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 Black" panose="020B0A04020102020204" pitchFamily="34" charset="0"/>
              </a:rPr>
              <a:t>Business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55988A-6FE6-EA44-A1B6-110F0302F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27" y="1775460"/>
            <a:ext cx="1042165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Identify overall sales performance and revenue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Track top-performing products and categories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Analyze customer purchasing behavior and repeat customers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Monitor employee sales performance and order handling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Compare sales across countries and cities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Track inventory stock levels and reorder requirements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Analyze shipping performance and delivery duration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Build interactive dashboards for easy business monitoring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 faster data-driven decision making </a:t>
            </a:r>
          </a:p>
        </p:txBody>
      </p:sp>
    </p:spTree>
    <p:extLst>
      <p:ext uri="{BB962C8B-B14F-4D97-AF65-F5344CB8AC3E}">
        <p14:creationId xmlns:p14="http://schemas.microsoft.com/office/powerpoint/2010/main" val="1336423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5315BF-F8AC-FFAC-6BF1-599CC319A870}"/>
              </a:ext>
            </a:extLst>
          </p:cNvPr>
          <p:cNvSpPr txBox="1"/>
          <p:nvPr/>
        </p:nvSpPr>
        <p:spPr>
          <a:xfrm>
            <a:off x="1290181" y="1177447"/>
            <a:ext cx="7850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E14615-A60E-A144-CB26-9B4670C1CA3A}"/>
              </a:ext>
            </a:extLst>
          </p:cNvPr>
          <p:cNvSpPr txBox="1"/>
          <p:nvPr/>
        </p:nvSpPr>
        <p:spPr>
          <a:xfrm>
            <a:off x="901874" y="2141951"/>
            <a:ext cx="823899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Business data was spread across multiple tables and files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Manual analysis was time-consuming and difficult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Identifying sales trends and customer behavior was challenging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Inventory monitoring and employee performance tracking lacked proper visualization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Decision-making was difficult without interactive reporting tools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The organization required a centralized dashboard for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1302541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1DB755-5143-86C5-6713-A3838D68250E}"/>
              </a:ext>
            </a:extLst>
          </p:cNvPr>
          <p:cNvSpPr txBox="1"/>
          <p:nvPr/>
        </p:nvSpPr>
        <p:spPr>
          <a:xfrm>
            <a:off x="551145" y="1302707"/>
            <a:ext cx="974525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 Black" panose="020B0A04020102020204" pitchFamily="34" charset="0"/>
              </a:rPr>
              <a:t>PROJECT OBJECTIVES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Analyze sales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Study customer behavior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Monitor inventory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Evaluate employee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Perform SQL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Create interactive dashboards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Generate business insights </a:t>
            </a:r>
          </a:p>
        </p:txBody>
      </p:sp>
    </p:spTree>
    <p:extLst>
      <p:ext uri="{BB962C8B-B14F-4D97-AF65-F5344CB8AC3E}">
        <p14:creationId xmlns:p14="http://schemas.microsoft.com/office/powerpoint/2010/main" val="2216571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7A3947-7B2B-8275-8EE1-1A59036CC63F}"/>
              </a:ext>
            </a:extLst>
          </p:cNvPr>
          <p:cNvSpPr txBox="1"/>
          <p:nvPr/>
        </p:nvSpPr>
        <p:spPr>
          <a:xfrm>
            <a:off x="1149894" y="1034551"/>
            <a:ext cx="800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Data Source &amp; Tables Used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E300877-F43D-5A1C-7482-08E41DFB7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638194"/>
              </p:ext>
            </p:extLst>
          </p:nvPr>
        </p:nvGraphicFramePr>
        <p:xfrm>
          <a:off x="1242549" y="1580588"/>
          <a:ext cx="8329808" cy="4246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4904">
                  <a:extLst>
                    <a:ext uri="{9D8B030D-6E8A-4147-A177-3AD203B41FA5}">
                      <a16:colId xmlns:a16="http://schemas.microsoft.com/office/drawing/2014/main" val="1624050767"/>
                    </a:ext>
                  </a:extLst>
                </a:gridCol>
                <a:gridCol w="4164904">
                  <a:extLst>
                    <a:ext uri="{9D8B030D-6E8A-4147-A177-3AD203B41FA5}">
                      <a16:colId xmlns:a16="http://schemas.microsoft.com/office/drawing/2014/main" val="1158352172"/>
                    </a:ext>
                  </a:extLst>
                </a:gridCol>
              </a:tblGrid>
              <a:tr h="471814">
                <a:tc>
                  <a:txBody>
                    <a:bodyPr/>
                    <a:lstStyle/>
                    <a:p>
                      <a:r>
                        <a:rPr lang="en-US" dirty="0"/>
                        <a:t>Table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375347"/>
                  </a:ext>
                </a:extLst>
              </a:tr>
              <a:tr h="471814">
                <a:tc>
                  <a:txBody>
                    <a:bodyPr/>
                    <a:lstStyle/>
                    <a:p>
                      <a:r>
                        <a:rPr lang="en-US" dirty="0"/>
                        <a:t>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order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220790"/>
                  </a:ext>
                </a:extLst>
              </a:tr>
              <a:tr h="471814">
                <a:tc>
                  <a:txBody>
                    <a:bodyPr/>
                    <a:lstStyle/>
                    <a:p>
                      <a:r>
                        <a:rPr lang="en-US" dirty="0"/>
                        <a:t>Order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sales transactions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518364"/>
                  </a:ext>
                </a:extLst>
              </a:tr>
              <a:tr h="471814">
                <a:tc>
                  <a:txBody>
                    <a:bodyPr/>
                    <a:lstStyle/>
                    <a:p>
                      <a:r>
                        <a:rPr lang="en-US" dirty="0"/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542812"/>
                  </a:ext>
                </a:extLst>
              </a:tr>
              <a:tr h="471814">
                <a:tc>
                  <a:txBody>
                    <a:bodyPr/>
                    <a:lstStyle/>
                    <a:p>
                      <a:r>
                        <a:rPr lang="en-US" dirty="0"/>
                        <a:t>Employees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Employee 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960886"/>
                  </a:ext>
                </a:extLst>
              </a:tr>
              <a:tr h="471814">
                <a:tc>
                  <a:txBody>
                    <a:bodyPr/>
                    <a:lstStyle/>
                    <a:p>
                      <a:r>
                        <a:rPr lang="en-US" dirty="0"/>
                        <a:t>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70853"/>
                  </a:ext>
                </a:extLst>
              </a:tr>
              <a:tr h="471814">
                <a:tc>
                  <a:txBody>
                    <a:bodyPr/>
                    <a:lstStyle/>
                    <a:p>
                      <a:r>
                        <a:rPr lang="en-US" dirty="0"/>
                        <a:t>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categories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793303"/>
                  </a:ext>
                </a:extLst>
              </a:tr>
              <a:tr h="471814">
                <a:tc>
                  <a:txBody>
                    <a:bodyPr/>
                    <a:lstStyle/>
                    <a:p>
                      <a:r>
                        <a:rPr lang="en-US" dirty="0"/>
                        <a:t>Suppliers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Supplier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858433"/>
                  </a:ext>
                </a:extLst>
              </a:tr>
              <a:tr h="471814">
                <a:tc>
                  <a:txBody>
                    <a:bodyPr/>
                    <a:lstStyle/>
                    <a:p>
                      <a:r>
                        <a:rPr lang="en-US" dirty="0"/>
                        <a:t>Shippers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Shipping company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328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8B97BC0-9ECC-5AA9-AFBD-98F043460597}"/>
              </a:ext>
            </a:extLst>
          </p:cNvPr>
          <p:cNvSpPr txBox="1"/>
          <p:nvPr/>
        </p:nvSpPr>
        <p:spPr>
          <a:xfrm>
            <a:off x="7941501" y="388307"/>
            <a:ext cx="3995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Northwind Traders — Relational Sales Database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775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248457-DB26-8CC4-AC76-097DB413FE64}"/>
              </a:ext>
            </a:extLst>
          </p:cNvPr>
          <p:cNvSpPr txBox="1"/>
          <p:nvPr/>
        </p:nvSpPr>
        <p:spPr>
          <a:xfrm>
            <a:off x="1029469" y="723817"/>
            <a:ext cx="5736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Black" panose="020B0A04020102020204" pitchFamily="34" charset="0"/>
              </a:rPr>
              <a:t>End-to-End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F1254F-E917-9880-DB34-C7A88C75AD16}"/>
              </a:ext>
            </a:extLst>
          </p:cNvPr>
          <p:cNvSpPr txBox="1"/>
          <p:nvPr/>
        </p:nvSpPr>
        <p:spPr>
          <a:xfrm>
            <a:off x="1032106" y="1332456"/>
            <a:ext cx="9144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Excel / CSV Files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CSV Files Cleaned &amp; Data Types Standardized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Imported into SQL Database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SQL Queries &amp; Data Analysis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Data Cleaning in Power Query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Data Modeling &amp; Relationships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DAX Measures &amp; KPI Creation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Dashboard Development in Power BI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Business Insights &amp; Reporting</a:t>
            </a:r>
          </a:p>
        </p:txBody>
      </p:sp>
    </p:spTree>
    <p:extLst>
      <p:ext uri="{BB962C8B-B14F-4D97-AF65-F5344CB8AC3E}">
        <p14:creationId xmlns:p14="http://schemas.microsoft.com/office/powerpoint/2010/main" val="4224239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30F8A3-09F8-513C-F59B-602A185F9A6B}"/>
              </a:ext>
            </a:extLst>
          </p:cNvPr>
          <p:cNvSpPr txBox="1"/>
          <p:nvPr/>
        </p:nvSpPr>
        <p:spPr>
          <a:xfrm>
            <a:off x="1578279" y="701458"/>
            <a:ext cx="75625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 Black" panose="020B0A04020102020204" pitchFamily="34" charset="0"/>
              </a:rPr>
              <a:t>DATA MODEL / STAR SCHEMA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4EF6B0-191A-E66C-5330-0CA6A803E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89" y="1865602"/>
            <a:ext cx="8186801" cy="4154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4ECCC6-625D-8065-162B-FFC73106EF36}"/>
              </a:ext>
            </a:extLst>
          </p:cNvPr>
          <p:cNvSpPr txBox="1"/>
          <p:nvPr/>
        </p:nvSpPr>
        <p:spPr>
          <a:xfrm>
            <a:off x="8818323" y="1991638"/>
            <a:ext cx="31429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star schema data model was created for efficient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Order Details table was used as the fact table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Customers, Products, Employees, Suppliers, Categories, and Shippers were used as dimension tables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Relationships were created using primary and foreign keys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Proper relationships improved filtering and dashboard performance </a:t>
            </a:r>
          </a:p>
        </p:txBody>
      </p:sp>
    </p:spTree>
    <p:extLst>
      <p:ext uri="{BB962C8B-B14F-4D97-AF65-F5344CB8AC3E}">
        <p14:creationId xmlns:p14="http://schemas.microsoft.com/office/powerpoint/2010/main" val="2214012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454B44-3457-CADA-D407-A13E60667DDF}"/>
              </a:ext>
            </a:extLst>
          </p:cNvPr>
          <p:cNvSpPr txBox="1"/>
          <p:nvPr/>
        </p:nvSpPr>
        <p:spPr>
          <a:xfrm>
            <a:off x="1427967" y="939452"/>
            <a:ext cx="77129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Dashboard Overview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BCCDD62-FA5B-D6E8-3A78-68CECDD22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911065"/>
              </p:ext>
            </p:extLst>
          </p:nvPr>
        </p:nvGraphicFramePr>
        <p:xfrm>
          <a:off x="1101686" y="1441373"/>
          <a:ext cx="9641714" cy="4806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0857">
                  <a:extLst>
                    <a:ext uri="{9D8B030D-6E8A-4147-A177-3AD203B41FA5}">
                      <a16:colId xmlns:a16="http://schemas.microsoft.com/office/drawing/2014/main" val="2607126043"/>
                    </a:ext>
                  </a:extLst>
                </a:gridCol>
                <a:gridCol w="4820857">
                  <a:extLst>
                    <a:ext uri="{9D8B030D-6E8A-4147-A177-3AD203B41FA5}">
                      <a16:colId xmlns:a16="http://schemas.microsoft.com/office/drawing/2014/main" val="2842924589"/>
                    </a:ext>
                  </a:extLst>
                </a:gridCol>
              </a:tblGrid>
              <a:tr h="592584">
                <a:tc>
                  <a:txBody>
                    <a:bodyPr/>
                    <a:lstStyle/>
                    <a:p>
                      <a:r>
                        <a:rPr lang="en-US"/>
                        <a:t>Dashboard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216633"/>
                  </a:ext>
                </a:extLst>
              </a:tr>
              <a:tr h="9023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Executive Overview Dashboard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Displays overall KPIs, revenue trends, customer count, supplier metrics, and shipping performance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4503145"/>
                  </a:ext>
                </a:extLst>
              </a:tr>
              <a:tr h="9023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Sales &amp; Product Analysis Dashboard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Analyzes sales trends, top-selling products, category performance, and product pricing distribution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866885"/>
                  </a:ext>
                </a:extLst>
              </a:tr>
              <a:tr h="7352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Customer Analysis Dashboard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Tracks customer distribution, order trends, customer segmentation, and regional analysis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032047"/>
                  </a:ext>
                </a:extLst>
              </a:tr>
              <a:tr h="7352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Employee Performance Dashboard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Evaluates employee order handling, sales contribution, and workforce performance metrics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618691"/>
                  </a:ext>
                </a:extLst>
              </a:tr>
              <a:tr h="7352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Supplier &amp; Operations Dashboard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Monitors supplier distribution, shipping efficiency, operational timelines, and logistics insights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941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9961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58455" y="8497121"/>
            <a:ext cx="2651760" cy="1371600"/>
          </a:xfrm>
          <a:prstGeom prst="rect">
            <a:avLst/>
          </a:prstGeom>
          <a:solidFill>
            <a:schemeClr val="tx1"/>
          </a:solidFill>
          <a:ln w="1905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5176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18892" y="-4873752"/>
            <a:ext cx="2651760" cy="1371600"/>
          </a:xfrm>
          <a:prstGeom prst="rect">
            <a:avLst/>
          </a:prstGeom>
          <a:solidFill>
            <a:srgbClr val="112240"/>
          </a:solidFill>
          <a:ln w="1905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517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14300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1.78K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37560" y="1856232"/>
            <a:ext cx="2468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  <a:highlight>
                  <a:srgbClr val="FF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000" dirty="0">
              <a:highlight>
                <a:srgbClr val="FF0000"/>
              </a:highlight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247206" y="-2913839"/>
            <a:ext cx="2651760" cy="1371600"/>
          </a:xfrm>
          <a:prstGeom prst="rect">
            <a:avLst/>
          </a:prstGeom>
          <a:solidFill>
            <a:srgbClr val="112240"/>
          </a:solidFill>
          <a:ln w="19050">
            <a:solidFill>
              <a:srgbClr val="E91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114300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$0.08M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1856232"/>
            <a:ext cx="2468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  <a:highlight>
                  <a:srgbClr val="FF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Total Discount Given</a:t>
            </a:r>
            <a:endParaRPr lang="en-US" sz="1000" dirty="0">
              <a:highlight>
                <a:srgbClr val="FF0000"/>
              </a:highlight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144000" y="-5465015"/>
            <a:ext cx="2651760" cy="1371600"/>
          </a:xfrm>
          <a:prstGeom prst="rect">
            <a:avLst/>
          </a:prstGeom>
          <a:solidFill>
            <a:srgbClr val="112240"/>
          </a:solidFill>
          <a:ln w="19050">
            <a:solidFill>
              <a:srgbClr val="00E5A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06840" y="1005840"/>
            <a:ext cx="265176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98280" y="114300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>
                <a:solidFill>
                  <a:srgbClr val="00E5A0"/>
                </a:solidFill>
                <a:latin typeface="Calibri"/>
                <a:ea typeface="Calibri"/>
                <a:cs typeface="Calibri"/>
              </a:rPr>
              <a:t>8.65 Days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098280" y="1856232"/>
            <a:ext cx="2468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  <a:highlight>
                  <a:srgbClr val="FF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Average shipping duration</a:t>
            </a:r>
            <a:endParaRPr lang="en-US" sz="1000" dirty="0">
              <a:highlight>
                <a:srgbClr val="FF0000"/>
              </a:highlight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55075" y="-4591155"/>
            <a:ext cx="2267712" cy="1234440"/>
          </a:xfrm>
          <a:prstGeom prst="rect">
            <a:avLst/>
          </a:prstGeom>
          <a:solidFill>
            <a:srgbClr val="112240"/>
          </a:solidFill>
          <a:ln w="1905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542032"/>
            <a:ext cx="2267712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679192"/>
            <a:ext cx="208483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0C8FF"/>
                </a:solidFill>
                <a:ea typeface="Calibri"/>
                <a:cs typeface="Calibri"/>
              </a:rPr>
              <a:t>760</a:t>
            </a:r>
            <a:endParaRPr lang="en-US" sz="2600" b="1" dirty="0">
              <a:solidFill>
                <a:srgbClr val="00C8FF"/>
              </a:solidFill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3307385"/>
            <a:ext cx="2084832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69425" y="-2710962"/>
            <a:ext cx="2267712" cy="1234440"/>
          </a:xfrm>
          <a:prstGeom prst="rect">
            <a:avLst/>
          </a:prstGeom>
          <a:solidFill>
            <a:srgbClr val="112240"/>
          </a:solidFill>
          <a:ln w="19050">
            <a:solidFill>
              <a:srgbClr val="E91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97480" y="2542032"/>
            <a:ext cx="2267712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88920" y="2679192"/>
            <a:ext cx="208483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E91E8C"/>
                </a:solidFill>
                <a:latin typeface="Calibri"/>
                <a:ea typeface="Calibri"/>
                <a:cs typeface="Calibri"/>
              </a:rPr>
              <a:t>92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788920" y="3307385"/>
            <a:ext cx="2084832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716086" y="-3670076"/>
            <a:ext cx="2267712" cy="1234440"/>
          </a:xfrm>
          <a:prstGeom prst="rect">
            <a:avLst/>
          </a:prstGeom>
          <a:solidFill>
            <a:srgbClr val="112240"/>
          </a:solidFill>
          <a:ln w="19050">
            <a:solidFill>
              <a:srgbClr val="9B59B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0" y="2542032"/>
            <a:ext cx="2267712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20640" y="2679192"/>
            <a:ext cx="208483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120640" y="3307385"/>
            <a:ext cx="2084832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684434" y="-1419979"/>
            <a:ext cx="2267712" cy="1234440"/>
          </a:xfrm>
          <a:prstGeom prst="rect">
            <a:avLst/>
          </a:prstGeom>
          <a:solidFill>
            <a:srgbClr val="112240"/>
          </a:solidFill>
          <a:ln w="19050">
            <a:solidFill>
              <a:srgbClr val="00E5A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360920" y="2542032"/>
            <a:ext cx="2267712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52360" y="2679192"/>
            <a:ext cx="208483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$150.50K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452360" y="3307385"/>
            <a:ext cx="2084832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/ Employee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790688" y="11338134"/>
            <a:ext cx="2267712" cy="1234440"/>
          </a:xfrm>
          <a:prstGeom prst="rect">
            <a:avLst/>
          </a:prstGeom>
          <a:solidFill>
            <a:srgbClr val="112240"/>
          </a:solidFill>
          <a:ln w="1905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692640" y="2542032"/>
            <a:ext cx="226771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784080" y="2679192"/>
            <a:ext cx="208483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2.22K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9784080" y="3307385"/>
            <a:ext cx="2084832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</a:rPr>
              <a:t>Sum of unit price</a:t>
            </a:r>
          </a:p>
        </p:txBody>
      </p:sp>
      <p:sp>
        <p:nvSpPr>
          <p:cNvPr id="41" name="Text 39"/>
          <p:cNvSpPr/>
          <p:nvPr/>
        </p:nvSpPr>
        <p:spPr>
          <a:xfrm>
            <a:off x="365760" y="392225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INSIGHTS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-365877" y="9011529"/>
            <a:ext cx="1828800" cy="2331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E5A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65760" y="4251960"/>
            <a:ext cx="18288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" y="4389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365760" y="5047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914900" y="10545846"/>
            <a:ext cx="1828800" cy="2331720"/>
          </a:xfrm>
          <a:prstGeom prst="rect">
            <a:avLst/>
          </a:prstGeom>
          <a:solidFill>
            <a:srgbClr val="112240"/>
          </a:solidFill>
          <a:ln w="12700">
            <a:solidFill>
              <a:srgbClr val="E91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331720" y="4251960"/>
            <a:ext cx="182880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331720" y="4389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2331720" y="5047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356252" y="8261252"/>
            <a:ext cx="1828800" cy="2331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297680" y="4251960"/>
            <a:ext cx="18288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297680" y="4389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0C8FF"/>
                </a:solidFill>
                <a:ea typeface="Calibri"/>
                <a:cs typeface="Calibri"/>
              </a:rPr>
              <a:t>8.26</a:t>
            </a:r>
            <a:endParaRPr lang="en-US" sz="2200" b="1" dirty="0">
              <a:solidFill>
                <a:srgbClr val="00C8FF"/>
              </a:solidFill>
              <a:ea typeface="Calibri"/>
              <a:cs typeface="Calibri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297680" y="5047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orders per 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6" name="Text 54"/>
          <p:cNvSpPr/>
          <p:nvPr/>
        </p:nvSpPr>
        <p:spPr>
          <a:xfrm>
            <a:off x="4297680" y="5394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006840" y="8205919"/>
            <a:ext cx="1828800" cy="2331720"/>
          </a:xfrm>
          <a:prstGeom prst="rect">
            <a:avLst/>
          </a:prstGeom>
          <a:solidFill>
            <a:srgbClr val="112240"/>
          </a:solidFill>
          <a:ln w="12700">
            <a:solidFill>
              <a:srgbClr val="E74C3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263640" y="4251960"/>
            <a:ext cx="18288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263640" y="4389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263640" y="5047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62" name="Shape 60"/>
          <p:cNvSpPr/>
          <p:nvPr/>
        </p:nvSpPr>
        <p:spPr>
          <a:xfrm>
            <a:off x="3017520" y="9841289"/>
            <a:ext cx="1828800" cy="2331720"/>
          </a:xfrm>
          <a:prstGeom prst="rect">
            <a:avLst/>
          </a:prstGeom>
          <a:solidFill>
            <a:srgbClr val="112240"/>
          </a:solidFill>
          <a:ln w="1270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229600" y="4251960"/>
            <a:ext cx="18288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229600" y="4389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3119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8229600" y="5047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0000"/>
                </a:solidFill>
              </a:rPr>
              <a:t>Units in stock</a:t>
            </a:r>
          </a:p>
        </p:txBody>
      </p:sp>
      <p:sp>
        <p:nvSpPr>
          <p:cNvPr id="67" name="Shape 65"/>
          <p:cNvSpPr/>
          <p:nvPr/>
        </p:nvSpPr>
        <p:spPr>
          <a:xfrm>
            <a:off x="10469880" y="10919295"/>
            <a:ext cx="1828800" cy="2331720"/>
          </a:xfrm>
          <a:prstGeom prst="rect">
            <a:avLst/>
          </a:prstGeom>
          <a:solidFill>
            <a:srgbClr val="112240"/>
          </a:solidFill>
          <a:ln w="12700">
            <a:solidFill>
              <a:srgbClr val="9B59B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10195560" y="4251960"/>
            <a:ext cx="182880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0195560" y="4389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780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10195560" y="5047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on order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71" name="Text 69"/>
          <p:cNvSpPr/>
          <p:nvPr/>
        </p:nvSpPr>
        <p:spPr>
          <a:xfrm>
            <a:off x="10195560" y="5394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72" name="Shape 7">
            <a:extLst>
              <a:ext uri="{FF2B5EF4-FFF2-40B4-BE49-F238E27FC236}">
                <a16:creationId xmlns:a16="http://schemas.microsoft.com/office/drawing/2014/main" id="{B984C31D-9E90-C4C9-C353-7DA38C27E0BC}"/>
              </a:ext>
            </a:extLst>
          </p:cNvPr>
          <p:cNvSpPr/>
          <p:nvPr/>
        </p:nvSpPr>
        <p:spPr>
          <a:xfrm>
            <a:off x="1499616" y="-2569982"/>
            <a:ext cx="2651760" cy="1371600"/>
          </a:xfrm>
          <a:prstGeom prst="rect">
            <a:avLst/>
          </a:prstGeom>
          <a:solidFill>
            <a:schemeClr val="bg1"/>
          </a:solidFill>
          <a:ln w="1905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354A329-2264-8978-4D8F-5732B122666A}"/>
              </a:ext>
            </a:extLst>
          </p:cNvPr>
          <p:cNvSpPr txBox="1"/>
          <p:nvPr/>
        </p:nvSpPr>
        <p:spPr>
          <a:xfrm>
            <a:off x="748145" y="1925682"/>
            <a:ext cx="1988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TOTAL REVENUE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440DCED-C1CE-C91C-55DB-9D1CB914E296}"/>
              </a:ext>
            </a:extLst>
          </p:cNvPr>
          <p:cNvSpPr txBox="1"/>
          <p:nvPr/>
        </p:nvSpPr>
        <p:spPr>
          <a:xfrm>
            <a:off x="267419" y="1285732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$1.35M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A8D1DC-A69C-F960-2C2F-C8CA1EB4479B}"/>
              </a:ext>
            </a:extLst>
          </p:cNvPr>
          <p:cNvSpPr txBox="1"/>
          <p:nvPr/>
        </p:nvSpPr>
        <p:spPr>
          <a:xfrm>
            <a:off x="624841" y="284880"/>
            <a:ext cx="673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KEY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KPIs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BUSINESS METRICS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chemeClr val="accent6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>
                <a:solidFill>
                  <a:srgbClr val="FFFFFF"/>
                </a:solidFill>
                <a:ea typeface="+mn-lt"/>
                <a:cs typeface="+mn-lt"/>
              </a:rPr>
              <a:t>POWER BI DASHBOARD WALKTHROUGH</a:t>
            </a: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5Power BI pages — page-by-page summary</a:t>
            </a:r>
            <a:endParaRPr lang="en-US" sz="1300" dirty="0">
              <a:solidFill>
                <a:srgbClr val="FFFF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30352" y="1051560"/>
            <a:ext cx="5504688" cy="1764792"/>
          </a:xfrm>
          <a:prstGeom prst="rect">
            <a:avLst/>
          </a:prstGeom>
          <a:solidFill>
            <a:schemeClr val="bg2"/>
          </a:solidFill>
          <a:ln w="1905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9206" y="1060924"/>
            <a:ext cx="73152" cy="1737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5603" y="1253353"/>
            <a:ext cx="5131657" cy="439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rgbClr val="FF0000"/>
                </a:solidFill>
                <a:ea typeface="+mn-lt"/>
                <a:cs typeface="+mn-lt"/>
              </a:rPr>
              <a:t>PAGE 1 — Executive Overview Dashboard</a:t>
            </a: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5860" y="1472148"/>
            <a:ext cx="5241567" cy="117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ea typeface="+mn-lt"/>
                <a:cs typeface="+mn-lt"/>
              </a:rPr>
              <a:t>Revenue KPIs | Order trends | Customer metrics | Supplier overview | Shipping performance</a:t>
            </a:r>
            <a:endParaRPr lang="en-US"/>
          </a:p>
          <a:p>
            <a:pPr marL="0" indent="0">
              <a:buNone/>
            </a:pPr>
            <a:endParaRPr lang="en-US" sz="1100" b="1" dirty="0"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63640" y="1051560"/>
            <a:ext cx="5669280" cy="1691640"/>
          </a:xfrm>
          <a:prstGeom prst="rect">
            <a:avLst/>
          </a:prstGeom>
          <a:solidFill>
            <a:schemeClr val="bg2"/>
          </a:solidFill>
          <a:ln w="1905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1005840"/>
            <a:ext cx="73152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28232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64471" y="1271714"/>
            <a:ext cx="5205102" cy="429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rgbClr val="FF0000"/>
                </a:solidFill>
                <a:ea typeface="+mn-lt"/>
                <a:cs typeface="+mn-lt"/>
              </a:rPr>
              <a:t>PAGE 2 — Sales &amp; Product Analysis Dashboard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40880" y="1481328"/>
            <a:ext cx="4663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ea typeface="+mn-lt"/>
                <a:cs typeface="+mn-lt"/>
              </a:rPr>
              <a:t>Monthly sales trends | Product category analysis | Top-selling products | Product pricing distribution</a:t>
            </a:r>
            <a:endParaRPr lang="en-US"/>
          </a:p>
          <a:p>
            <a:pPr marL="0" indent="0">
              <a:buNone/>
            </a:pPr>
            <a:endParaRPr lang="en-US" sz="1100" dirty="0"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5669280" cy="1737360"/>
          </a:xfrm>
          <a:prstGeom prst="rect">
            <a:avLst/>
          </a:prstGeom>
          <a:solidFill>
            <a:schemeClr val="bg2"/>
          </a:solidFill>
          <a:ln w="19050">
            <a:solidFill>
              <a:srgbClr val="E91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73152" cy="17373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1675" y="3219496"/>
            <a:ext cx="4993946" cy="41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F0000"/>
                </a:solidFill>
              </a:rPr>
              <a:t>PAGE 3 — Customer Analysis Dashboard</a:t>
            </a:r>
            <a:endParaRPr lang="en-US" b="1">
              <a:solidFill>
                <a:srgbClr val="FF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1675" y="3493375"/>
            <a:ext cx="4663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ea typeface="+mn-lt"/>
                <a:cs typeface="+mn-lt"/>
              </a:rPr>
              <a:t>Customer distribution | Regional customer insights | Order trends | Customer segmentation analysis</a:t>
            </a:r>
            <a:endParaRPr lang="en-US"/>
          </a:p>
          <a:p>
            <a:pPr marL="0" indent="0">
              <a:buNone/>
            </a:pPr>
            <a:endParaRPr lang="en-US" sz="1100" dirty="0"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2926080"/>
            <a:ext cx="5669280" cy="1737360"/>
          </a:xfrm>
          <a:prstGeom prst="rect">
            <a:avLst/>
          </a:prstGeom>
          <a:solidFill>
            <a:schemeClr val="bg2"/>
          </a:solidFill>
          <a:ln w="19050">
            <a:solidFill>
              <a:srgbClr val="3498D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63640" y="2926080"/>
            <a:ext cx="73152" cy="173736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28232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76615" y="3210315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F0000"/>
                </a:solidFill>
              </a:rPr>
              <a:t>PAGE 4 — Employee Performance Dashboard</a:t>
            </a:r>
            <a:endParaRPr lang="en-US" b="1">
              <a:solidFill>
                <a:srgbClr val="FF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040880" y="3401568"/>
            <a:ext cx="4663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 9 Employees | 150.50K Revenue/Employee | Employee sales trend | Orders handled analysis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7455" y="5001768"/>
            <a:ext cx="5845417" cy="1691640"/>
          </a:xfrm>
          <a:prstGeom prst="rect">
            <a:avLst/>
          </a:prstGeom>
          <a:solidFill>
            <a:schemeClr val="bg2"/>
          </a:solidFill>
          <a:ln w="19050">
            <a:solidFill>
              <a:srgbClr val="00E5A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 lIns="91440" tIns="45720" rIns="91440" bIns="45720" anchor="t"/>
          <a:lstStyle/>
          <a:p>
            <a:endParaRPr lang="en-US" dirty="0"/>
          </a:p>
          <a:p>
            <a:endParaRPr lang="en-US" dirty="0"/>
          </a:p>
          <a:p>
            <a:endParaRPr lang="en-US" sz="1200" dirty="0">
              <a:ea typeface="Calibri"/>
              <a:cs typeface="Calibri"/>
            </a:endParaRPr>
          </a:p>
          <a:p>
            <a:r>
              <a:rPr lang="en-US" sz="1200" dirty="0">
                <a:ea typeface="Calibri"/>
                <a:cs typeface="Calibri"/>
              </a:rPr>
              <a:t>       </a:t>
            </a:r>
            <a:r>
              <a:rPr lang="en-US" sz="1200">
                <a:ea typeface="+mn-lt"/>
                <a:cs typeface="+mn-lt"/>
              </a:rPr>
              <a:t>Supplier distribution | Shipping timelines | Operational efficiency | Inventory</a:t>
            </a:r>
            <a:endParaRPr lang="en-US" sz="1200">
              <a:ea typeface="Calibri"/>
              <a:cs typeface="Calibri"/>
            </a:endParaRPr>
          </a:p>
          <a:p>
            <a:endParaRPr lang="en-US" sz="1200" dirty="0">
              <a:ea typeface="Calibri"/>
              <a:cs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377890" y="4997205"/>
            <a:ext cx="73152" cy="17373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0352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127430" y="5368703"/>
            <a:ext cx="3943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FF0000"/>
                </a:solidFill>
              </a:rPr>
              <a:t>PAGE 5 –Regional And Supplier Dashboard</a:t>
            </a:r>
            <a:endParaRPr lang="en-US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05223" y="5568659"/>
            <a:ext cx="5138928" cy="776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DASHBOARD VISUALS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ea typeface="+mn-lt"/>
                <a:cs typeface="+mn-lt"/>
              </a:rPr>
              <a:t>Interactive Dashboard Visualizations</a:t>
            </a:r>
            <a:endParaRPr lang="en-US" b="1"/>
          </a:p>
        </p:txBody>
      </p:sp>
      <p:sp>
        <p:nvSpPr>
          <p:cNvPr id="8" name="Text 5"/>
          <p:cNvSpPr/>
          <p:nvPr/>
        </p:nvSpPr>
        <p:spPr>
          <a:xfrm>
            <a:off x="502920" y="260604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i="1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46520" y="10515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17358" y="38587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7030A0"/>
                </a:solidFill>
                <a:latin typeface="Calibri"/>
              </a:rPr>
              <a:t>Employee Analysis</a:t>
            </a:r>
            <a:r>
              <a:rPr lang="en-US" sz="1100" b="1" i="0" u="none" strike="noStrike" baseline="0">
                <a:solidFill>
                  <a:srgbClr val="7030A0"/>
                </a:solidFill>
                <a:latin typeface="Calibri"/>
              </a:rPr>
              <a:t> Dashboard</a:t>
            </a:r>
            <a:r>
              <a:rPr lang="en-US" sz="11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 sz="16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502920" y="6126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 Product stock availability and inventory distribution insights 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462272" y="3858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Product and Sales Analysis Dashboard</a:t>
            </a:r>
          </a:p>
        </p:txBody>
      </p:sp>
      <p:sp>
        <p:nvSpPr>
          <p:cNvPr id="20" name="Text 14"/>
          <p:cNvSpPr/>
          <p:nvPr/>
        </p:nvSpPr>
        <p:spPr>
          <a:xfrm>
            <a:off x="4462272" y="6126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Customer behavior and repeat </a:t>
            </a:r>
            <a:r>
              <a:rPr lang="en-US" sz="1000" dirty="0" err="1">
                <a:solidFill>
                  <a:schemeClr val="bg1"/>
                </a:solidFill>
              </a:rPr>
              <a:t>cusomer</a:t>
            </a:r>
            <a:r>
              <a:rPr lang="en-US" sz="1000" dirty="0">
                <a:solidFill>
                  <a:schemeClr val="bg1"/>
                </a:solidFill>
              </a:rPr>
              <a:t> analysis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2" name="Text 16"/>
          <p:cNvSpPr/>
          <p:nvPr/>
        </p:nvSpPr>
        <p:spPr>
          <a:xfrm>
            <a:off x="6316098" y="6202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7030A0"/>
                </a:solidFill>
                <a:ea typeface="Calibri"/>
                <a:cs typeface="Calibri"/>
              </a:rPr>
              <a:t>Customer Analysis Dashboard</a:t>
            </a:r>
          </a:p>
        </p:txBody>
      </p:sp>
      <p:sp>
        <p:nvSpPr>
          <p:cNvPr id="24" name="Text 17"/>
          <p:cNvSpPr/>
          <p:nvPr/>
        </p:nvSpPr>
        <p:spPr>
          <a:xfrm>
            <a:off x="8421624" y="6126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Country-wise revenue and geographic sales distribution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D399BB-3261-EBD8-B56D-22C0F0EFC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41" y="892341"/>
            <a:ext cx="5210772" cy="2536660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4B64BE-A50C-EBAF-EFC0-F92334AC5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579" y="892524"/>
            <a:ext cx="5243763" cy="2536294"/>
          </a:xfrm>
          <a:prstGeom prst="rect">
            <a:avLst/>
          </a:prstGeom>
        </p:spPr>
      </p:pic>
      <p:pic>
        <p:nvPicPr>
          <p:cNvPr id="23" name="Picture 22" descr="A screenshot of a graph&#10;&#10;AI-generated content may be incorrect.">
            <a:extLst>
              <a:ext uri="{FF2B5EF4-FFF2-40B4-BE49-F238E27FC236}">
                <a16:creationId xmlns:a16="http://schemas.microsoft.com/office/drawing/2014/main" id="{4A317D65-FA5A-A76B-E585-228D8DC04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316" y="4252288"/>
            <a:ext cx="3649579" cy="2033082"/>
          </a:xfrm>
          <a:prstGeom prst="rect">
            <a:avLst/>
          </a:prstGeom>
        </p:spPr>
      </p:pic>
      <p:pic>
        <p:nvPicPr>
          <p:cNvPr id="25" name="Picture 24" descr="A screenshot of a graph&#10;&#10;AI-generated content may be incorrect.">
            <a:extLst>
              <a:ext uri="{FF2B5EF4-FFF2-40B4-BE49-F238E27FC236}">
                <a16:creationId xmlns:a16="http://schemas.microsoft.com/office/drawing/2014/main" id="{AC0A298B-78A5-2836-0172-7461EDBEE5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1526" y="4246690"/>
            <a:ext cx="3639553" cy="2044278"/>
          </a:xfrm>
          <a:prstGeom prst="rect">
            <a:avLst/>
          </a:prstGeom>
        </p:spPr>
      </p:pic>
      <p:pic>
        <p:nvPicPr>
          <p:cNvPr id="26" name="Picture 2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A19160E-0F7C-4BE2-ED6F-0304C7DBC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1632" y="4229978"/>
            <a:ext cx="3639553" cy="2057649"/>
          </a:xfrm>
          <a:prstGeom prst="rect">
            <a:avLst/>
          </a:prstGeom>
        </p:spPr>
      </p:pic>
      <p:sp>
        <p:nvSpPr>
          <p:cNvPr id="30" name="Text 13">
            <a:extLst>
              <a:ext uri="{FF2B5EF4-FFF2-40B4-BE49-F238E27FC236}">
                <a16:creationId xmlns:a16="http://schemas.microsoft.com/office/drawing/2014/main" id="{418E9A80-EAD8-C2DE-B1CA-7844E33A2D70}"/>
              </a:ext>
            </a:extLst>
          </p:cNvPr>
          <p:cNvSpPr/>
          <p:nvPr/>
        </p:nvSpPr>
        <p:spPr>
          <a:xfrm>
            <a:off x="8091798" y="3858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Supplier and Regional Analysis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88858" y="4052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>
                <a:ea typeface="+mn-lt"/>
                <a:cs typeface="+mn-lt"/>
              </a:rPr>
              <a:t>BUSINESS CHALLENGES &amp; ANALYTICAL SOLUTIONS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94976" y="1005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7488" y="143560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94976" y="14356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47488" y="244144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94976" y="244144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47488" y="344728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94976" y="344728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47488" y="445312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94976" y="445312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545896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47488" y="545896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94976" y="54589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graphicFrame>
        <p:nvGraphicFramePr>
          <p:cNvPr id="41" name="Table 41">
            <a:extLst>
              <a:ext uri="{FF2B5EF4-FFF2-40B4-BE49-F238E27FC236}">
                <a16:creationId xmlns:a16="http://schemas.microsoft.com/office/drawing/2014/main" id="{4FE293AB-B973-2D3D-215E-C897D4138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698028"/>
              </p:ext>
            </p:extLst>
          </p:nvPr>
        </p:nvGraphicFramePr>
        <p:xfrm>
          <a:off x="1085849" y="1088136"/>
          <a:ext cx="9686925" cy="4543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8975">
                  <a:extLst>
                    <a:ext uri="{9D8B030D-6E8A-4147-A177-3AD203B41FA5}">
                      <a16:colId xmlns:a16="http://schemas.microsoft.com/office/drawing/2014/main" val="3796848620"/>
                    </a:ext>
                  </a:extLst>
                </a:gridCol>
                <a:gridCol w="3228975">
                  <a:extLst>
                    <a:ext uri="{9D8B030D-6E8A-4147-A177-3AD203B41FA5}">
                      <a16:colId xmlns:a16="http://schemas.microsoft.com/office/drawing/2014/main" val="4211214883"/>
                    </a:ext>
                  </a:extLst>
                </a:gridCol>
                <a:gridCol w="3228975">
                  <a:extLst>
                    <a:ext uri="{9D8B030D-6E8A-4147-A177-3AD203B41FA5}">
                      <a16:colId xmlns:a16="http://schemas.microsoft.com/office/drawing/2014/main" val="115972062"/>
                    </a:ext>
                  </a:extLst>
                </a:gridCol>
              </a:tblGrid>
              <a:tr h="757301">
                <a:tc>
                  <a:txBody>
                    <a:bodyPr/>
                    <a:lstStyle/>
                    <a:p>
                      <a:r>
                        <a:rPr lang="en-US" dirty="0"/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5404047"/>
                  </a:ext>
                </a:extLst>
              </a:tr>
              <a:tr h="757301">
                <a:tc>
                  <a:txBody>
                    <a:bodyPr/>
                    <a:lstStyle/>
                    <a:p>
                      <a:r>
                        <a:rPr lang="en-US"/>
                        <a:t>No centralized sales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Created Sales Performance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Better revenue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681772"/>
                  </a:ext>
                </a:extLst>
              </a:tr>
              <a:tr h="757301">
                <a:tc>
                  <a:txBody>
                    <a:bodyPr/>
                    <a:lstStyle/>
                    <a:p>
                      <a:r>
                        <a:rPr lang="en-US"/>
                        <a:t>Customer behavior not analyzed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Built Customer Analytics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Improved customer insights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308804"/>
                  </a:ext>
                </a:extLst>
              </a:tr>
              <a:tr h="757301">
                <a:tc>
                  <a:txBody>
                    <a:bodyPr/>
                    <a:lstStyle/>
                    <a:p>
                      <a:r>
                        <a:rPr lang="en-US"/>
                        <a:t>Employee performance unclear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Developed Employee KPI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Employee productivity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983883"/>
                  </a:ext>
                </a:extLst>
              </a:tr>
              <a:tr h="757301">
                <a:tc>
                  <a:txBody>
                    <a:bodyPr/>
                    <a:lstStyle/>
                    <a:p>
                      <a:r>
                        <a:rPr lang="en-US"/>
                        <a:t>Inventory stock monitoring difficult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Built Inventory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Reduced stock management 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3441389"/>
                  </a:ext>
                </a:extLst>
              </a:tr>
              <a:tr h="757301">
                <a:tc>
                  <a:txBody>
                    <a:bodyPr/>
                    <a:lstStyle/>
                    <a:p>
                      <a:r>
                        <a:rPr lang="en-US"/>
                        <a:t>Geographic sales analysis missing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Added country-wise revenue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Better regional business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847993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A21F079D-1F08-D1C1-D2F0-6CBE70435E6E}"/>
              </a:ext>
            </a:extLst>
          </p:cNvPr>
          <p:cNvSpPr txBox="1"/>
          <p:nvPr/>
        </p:nvSpPr>
        <p:spPr>
          <a:xfrm>
            <a:off x="1084446" y="5848486"/>
            <a:ext cx="7374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SQL + Excel + Power BI used for business analysis and dashboard development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024" y="0"/>
            <a:ext cx="11988927" cy="76809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10972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DECISION VALUE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29768" y="905256"/>
            <a:ext cx="9171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 — Measurable Business Value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64008" cy="93268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15179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17373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0" y="157276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487168"/>
            <a:ext cx="594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29260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91640" y="2907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60720" y="2596896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9164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60720" y="3621024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4535424"/>
            <a:ext cx="594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43000" y="4590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691640" y="4956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20640" y="48097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60720" y="464515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" y="5559552"/>
            <a:ext cx="594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143000" y="56144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143000" y="59984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76300" y="5980176"/>
            <a:ext cx="9753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Interactive dashboards improved reporting efficiency, operational visibility, and business decision-making.</a:t>
            </a:r>
          </a:p>
        </p:txBody>
      </p:sp>
      <p:sp>
        <p:nvSpPr>
          <p:cNvPr id="54" name="Text 52"/>
          <p:cNvSpPr/>
          <p:nvPr/>
        </p:nvSpPr>
        <p:spPr>
          <a:xfrm>
            <a:off x="5760720" y="566928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E049893-63CD-2E48-522A-806F5E6A2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848264"/>
              </p:ext>
            </p:extLst>
          </p:nvPr>
        </p:nvGraphicFramePr>
        <p:xfrm>
          <a:off x="432596" y="1475195"/>
          <a:ext cx="11307000" cy="4653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9000">
                  <a:extLst>
                    <a:ext uri="{9D8B030D-6E8A-4147-A177-3AD203B41FA5}">
                      <a16:colId xmlns:a16="http://schemas.microsoft.com/office/drawing/2014/main" val="3068523237"/>
                    </a:ext>
                  </a:extLst>
                </a:gridCol>
                <a:gridCol w="3769000">
                  <a:extLst>
                    <a:ext uri="{9D8B030D-6E8A-4147-A177-3AD203B41FA5}">
                      <a16:colId xmlns:a16="http://schemas.microsoft.com/office/drawing/2014/main" val="512053917"/>
                    </a:ext>
                  </a:extLst>
                </a:gridCol>
                <a:gridCol w="3769000">
                  <a:extLst>
                    <a:ext uri="{9D8B030D-6E8A-4147-A177-3AD203B41FA5}">
                      <a16:colId xmlns:a16="http://schemas.microsoft.com/office/drawing/2014/main" val="667973370"/>
                    </a:ext>
                  </a:extLst>
                </a:gridCol>
              </a:tblGrid>
              <a:tr h="6647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Area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Business Challenge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Business Outcome</a:t>
                      </a:r>
                      <a:endParaRPr 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5132296"/>
                  </a:ext>
                </a:extLst>
              </a:tr>
              <a:tr h="6647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Executive Reporting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Fragmented manual reporting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Centralized KPI dashboards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089057"/>
                  </a:ext>
                </a:extLst>
              </a:tr>
              <a:tr h="6647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Sales &amp; Product Analysis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Limited revenue visibility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Interactive sales and product insights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875789"/>
                  </a:ext>
                </a:extLst>
              </a:tr>
              <a:tr h="6647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Customer Analysis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Difficulty tracking customer behavior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Customer segmentation and regional insights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430795"/>
                  </a:ext>
                </a:extLst>
              </a:tr>
              <a:tr h="6647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Employee Performance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Limited workforce visibility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Employee productivity analysis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133576"/>
                  </a:ext>
                </a:extLst>
              </a:tr>
              <a:tr h="6647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Supplier &amp; Operations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Shipping inefficiencies difficult to identify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Operational and logistics optimization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492730"/>
                  </a:ext>
                </a:extLst>
              </a:tr>
              <a:tr h="6647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Strategic Decision Making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Slow analytical process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Faster data-driven decisions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4319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60504-83DD-3458-AFE0-740F1DDA97A2}"/>
              </a:ext>
            </a:extLst>
          </p:cNvPr>
          <p:cNvSpPr txBox="1"/>
          <p:nvPr/>
        </p:nvSpPr>
        <p:spPr>
          <a:xfrm>
            <a:off x="468904" y="659062"/>
            <a:ext cx="8639175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>
                <a:ea typeface="+mn-lt"/>
                <a:cs typeface="+mn-lt"/>
              </a:rPr>
              <a:t>PROJECT CONCLUSION &amp; FUTURE ENHANCEMENTS</a:t>
            </a:r>
            <a:endParaRPr lang="en-US" b="1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FUTURE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05B496-4089-9174-F8AF-F36E68D590FD}"/>
              </a:ext>
            </a:extLst>
          </p:cNvPr>
          <p:cNvSpPr txBox="1"/>
          <p:nvPr/>
        </p:nvSpPr>
        <p:spPr>
          <a:xfrm>
            <a:off x="466725" y="914400"/>
            <a:ext cx="9753600" cy="53553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b="1" dirty="0"/>
          </a:p>
          <a:p>
            <a:r>
              <a:rPr lang="en-US" b="1" dirty="0"/>
              <a:t>PROJECT SUMMARY</a:t>
            </a:r>
          </a:p>
          <a:p>
            <a:r>
              <a:rPr lang="en-US">
                <a:ea typeface="+mn-lt"/>
                <a:cs typeface="+mn-lt"/>
              </a:rPr>
              <a:t> • Developed interactive Power BI dashboards for business intelligence reporting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Integrated SQL, Excel, EDA, and Power BI for end-to-end analytics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Performed data cleaning, transformation, and KPI modeling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Built executive, sales, customer, employee, and operations dashboards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Generated actionable insights for revenue, customer behavior, and operational performance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Improved decision-making through interactive visual analytics and KPI tracking</a:t>
            </a:r>
            <a:endParaRPr lang="en-US" dirty="0">
              <a:latin typeface="+mj-lt"/>
              <a:ea typeface="Calibri Light"/>
              <a:cs typeface="Calibri Ligh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FUTURE ENHANCEMENTS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• Real-time database connectivity using SQL Server or cloud integration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Automated alerts and scheduled reporting through Power BI Service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Predictive sales forecasting using machine learning models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Mobile-responsive dashboard optimization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Advanced customer segmentation and trend prediction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Integration with live business data sources for real-time analytics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dirty="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DD895-8BD8-7C99-472D-B770DF9C2345}"/>
              </a:ext>
            </a:extLst>
          </p:cNvPr>
          <p:cNvSpPr txBox="1"/>
          <p:nvPr/>
        </p:nvSpPr>
        <p:spPr>
          <a:xfrm rot="10800000" flipV="1">
            <a:off x="535809" y="5803265"/>
            <a:ext cx="11114527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Built using SQL, Excel, Exploratory Data Analysis (EDA), and Power BI for business intelligence and analytical reporting.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4561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E91E8C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US" sz="11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365760"/>
            <a:ext cx="4389120" cy="2560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sz="38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&amp; FUTURE</a:t>
            </a:r>
            <a:endParaRPr lang="en-US" sz="38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SCOPE</a:t>
            </a:r>
            <a:endParaRPr lang="en-US" sz="38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224" y="293471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349300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405993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5 interactive Power BI dashboards created</a:t>
            </a:r>
            <a:endParaRPr lang="en-US"/>
          </a:p>
          <a:p>
            <a:pPr marL="0" indent="0">
              <a:buNone/>
            </a:pPr>
            <a:endParaRPr lang="en-US" sz="11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462686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5902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SQL, Excel, EDA, and Power BI used for analytics  </a:t>
            </a:r>
            <a:endParaRPr lang="en-US" sz="11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519379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51572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 KPI and DAX-based business reporting implemented</a:t>
            </a:r>
            <a:endParaRPr lang="en-US"/>
          </a:p>
          <a:p>
            <a:pPr marL="0" indent="0">
              <a:buNone/>
            </a:pPr>
            <a:endParaRPr lang="en-US" sz="11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576072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57241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Insights generated for sales, customers, employees, and operations</a:t>
            </a:r>
            <a:endParaRPr lang="en-US"/>
          </a:p>
          <a:p>
            <a:pPr marL="0" indent="0">
              <a:buNone/>
            </a:pPr>
            <a:endParaRPr lang="en-US" sz="11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94960" y="457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03520" y="960120"/>
            <a:ext cx="649224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E74C3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03520" y="960120"/>
            <a:ext cx="54864" cy="9601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94960" y="9601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80760" y="1033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Pipeline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80760" y="136245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via SQL Server DirectQuery for real-time dashboard updates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2057400"/>
            <a:ext cx="649224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03520" y="2057400"/>
            <a:ext cx="54864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94960" y="205740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080760" y="21305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80760" y="245973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E8F0FE"/>
                </a:solidFill>
                <a:ea typeface="+mn-lt"/>
                <a:cs typeface="+mn-lt"/>
              </a:rPr>
              <a:t>Enable automated KPI and operational alerts using Power BI Service</a:t>
            </a:r>
            <a:endParaRPr lang="en-US"/>
          </a:p>
          <a:p>
            <a:pPr marL="0" indent="0">
              <a:buNone/>
            </a:pPr>
            <a:endParaRPr lang="en-US" sz="1100" dirty="0">
              <a:solidFill>
                <a:srgbClr val="E8F0FE"/>
              </a:solidFill>
              <a:ea typeface="Calibri"/>
              <a:cs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303520" y="3154680"/>
            <a:ext cx="649224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E5A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303520" y="3154680"/>
            <a:ext cx="54864" cy="9601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94960" y="315468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080760" y="32278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00E5A0"/>
                </a:solidFill>
                <a:latin typeface="Calibri"/>
                <a:ea typeface="Calibri"/>
                <a:cs typeface="Calibri"/>
              </a:rPr>
              <a:t>Predictive Sales Forecasting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080760" y="355701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E8F0FE"/>
                </a:solidFill>
                <a:ea typeface="+mn-lt"/>
                <a:cs typeface="+mn-lt"/>
              </a:rPr>
              <a:t>Integrate machine learning models for future revenue and demand prediction</a:t>
            </a:r>
            <a:endParaRPr lang="en-US"/>
          </a:p>
          <a:p>
            <a:pPr marL="0" indent="0">
              <a:buNone/>
            </a:pPr>
            <a:endParaRPr lang="en-US" sz="1100" dirty="0">
              <a:solidFill>
                <a:srgbClr val="E8F0FE"/>
              </a:solidFill>
              <a:ea typeface="Calibri"/>
              <a:cs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303520" y="4251960"/>
            <a:ext cx="649224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303520" y="4251960"/>
            <a:ext cx="54864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94960" y="42519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099121" y="450872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</a:rPr>
              <a:t>Dashboard Publishing</a:t>
            </a:r>
            <a:endParaRPr lang="en-US" sz="1400" b="1">
              <a:solidFill>
                <a:schemeClr val="accent4">
                  <a:lumMod val="60000"/>
                  <a:lumOff val="40000"/>
                </a:schemeClr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300" b="1" dirty="0">
              <a:solidFill>
                <a:srgbClr val="00C8FF"/>
              </a:solidFill>
              <a:ea typeface="Calibri"/>
              <a:cs typeface="Calibr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080760" y="465429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 deployment for secure executive report sharing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03520" y="5349240"/>
            <a:ext cx="649224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9B59B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303520" y="5349240"/>
            <a:ext cx="54864" cy="9601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94960" y="53492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080760" y="54223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Dashboard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080760" y="575157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 layouts for on-the-go executive access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03520" y="6473952"/>
            <a:ext cx="6492240" cy="29260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03520" y="647395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Power BI · SQL · DAX · Excel  |  Northwind Analytics 2025</a:t>
            </a:r>
            <a:endParaRPr lang="en-US" sz="1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2E7EDD-5115-243C-8688-5EE0F6E1B8B1}"/>
              </a:ext>
            </a:extLst>
          </p:cNvPr>
          <p:cNvSpPr txBox="1"/>
          <p:nvPr/>
        </p:nvSpPr>
        <p:spPr>
          <a:xfrm>
            <a:off x="611604" y="3479131"/>
            <a:ext cx="397042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rgbClr val="FFFFFF"/>
                </a:solidFill>
                <a:ea typeface="Calibri"/>
                <a:cs typeface="Calibri"/>
              </a:rPr>
              <a:t>$1.35M </a:t>
            </a:r>
            <a:r>
              <a:rPr lang="en-US" sz="1100">
                <a:solidFill>
                  <a:srgbClr val="FFFFFF"/>
                </a:solidFill>
                <a:ea typeface="Calibri"/>
                <a:cs typeface="Calibri"/>
              </a:rPr>
              <a:t>revenue analyzed</a:t>
            </a:r>
            <a:r>
              <a:rPr lang="en-US" sz="1100" dirty="0">
                <a:solidFill>
                  <a:srgbClr val="FFFFFF"/>
                </a:solidFill>
                <a:ea typeface="Calibri"/>
                <a:cs typeface="Calibri"/>
              </a:rPr>
              <a:t> across 760 orders</a:t>
            </a:r>
            <a:endParaRPr lang="en-US" sz="1100" dirty="0">
              <a:ea typeface="Calibri"/>
              <a:cs typeface="Calibri"/>
            </a:endParaRPr>
          </a:p>
          <a:p>
            <a:endParaRPr lang="en-US" sz="1100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311</TotalTime>
  <Words>1161</Words>
  <Application>Microsoft Office PowerPoint</Application>
  <PresentationFormat>Widescreen</PresentationFormat>
  <Paragraphs>280</Paragraphs>
  <Slides>17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Sales Dashboard — Analytics Report</dc:title>
  <dc:subject>PptxGenJS Presentation</dc:subject>
  <dc:creator>Northwind Analytics</dc:creator>
  <cp:lastModifiedBy>rupasri dhulipalla</cp:lastModifiedBy>
  <cp:revision>334</cp:revision>
  <dcterms:created xsi:type="dcterms:W3CDTF">2026-05-09T14:45:51Z</dcterms:created>
  <dcterms:modified xsi:type="dcterms:W3CDTF">2026-05-10T09:15:22Z</dcterms:modified>
</cp:coreProperties>
</file>